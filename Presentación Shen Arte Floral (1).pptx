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Playfair Display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layfairDisplaySemiBold-bold.fntdata"/><Relationship Id="rId23" Type="http://schemas.openxmlformats.org/officeDocument/2006/relationships/font" Target="fonts/PlayfairDisplay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SemiBold-boldItalic.fntdata"/><Relationship Id="rId25" Type="http://schemas.openxmlformats.org/officeDocument/2006/relationships/font" Target="fonts/PlayfairDisplay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19" Type="http://schemas.openxmlformats.org/officeDocument/2006/relationships/font" Target="fonts/Lato-regular.fntdata"/><Relationship Id="rId18" Type="http://schemas.openxmlformats.org/officeDocument/2006/relationships/font" Target="fonts/PlayfairDispl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d68a710f65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nxx29.github.io/Shen-Arte-Floral/index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2965608" y="2579340"/>
            <a:ext cx="626078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Shen Arte Floral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3114675" y="3722340"/>
            <a:ext cx="596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8C998E"/>
                </a:solidFill>
                <a:latin typeface="Lato"/>
                <a:ea typeface="Lato"/>
                <a:cs typeface="Lato"/>
                <a:sym typeface="Lato"/>
              </a:rPr>
              <a:t>Digitalización y Desarrollo Web para una </a:t>
            </a:r>
            <a:r>
              <a:rPr i="1" lang="en-US" sz="1800">
                <a:solidFill>
                  <a:srgbClr val="8C998E"/>
                </a:solidFill>
                <a:latin typeface="Lato"/>
                <a:ea typeface="Lato"/>
                <a:cs typeface="Lato"/>
                <a:sym typeface="Lato"/>
              </a:rPr>
              <a:t>Floreria local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762000" y="1320403"/>
            <a:ext cx="535066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¿Qué es Shen Arte Floral?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762000" y="2063353"/>
            <a:ext cx="5095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b="0" i="0" lang="en-US" sz="165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lorería boutique online operando en Puerto Montt y sus alrededores.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762000" y="3046214"/>
            <a:ext cx="5095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Se</a:t>
            </a:r>
            <a:r>
              <a:rPr b="0" i="0" lang="en-US" sz="165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 especializa en la creación de arreglos florales únicos, ofreciendo desde delicados detalles minimalistas de una o dos flores, hasta majestuosos bouquets personalizados de 50 rosas, diseñados a pedido para convertir cada momento en algo inolvidable.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818" y="132040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1333500" y="1383208"/>
            <a:ext cx="9525000" cy="1497300"/>
          </a:xfrm>
          <a:prstGeom prst="roundRect">
            <a:avLst>
              <a:gd fmla="val 5089" name="adj"/>
            </a:avLst>
          </a:prstGeom>
          <a:solidFill>
            <a:srgbClr val="FBF9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000250" y="1621333"/>
            <a:ext cx="85725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3B32"/>
                </a:solidFill>
                <a:latin typeface="Lato"/>
                <a:ea typeface="Lato"/>
                <a:cs typeface="Lato"/>
                <a:sym typeface="Lato"/>
              </a:rPr>
              <a:t>Limitación de Plataformas</a:t>
            </a: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 Dependencia exclusiva de redes sociales (Facebook, Instagram) y plataformas de terceros como único punto de contacto, restringiendo el crecimiento orgánico del negocio.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333500" y="1383208"/>
            <a:ext cx="47625" cy="1497210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1333500" y="3118544"/>
            <a:ext cx="9525000" cy="1497210"/>
          </a:xfrm>
          <a:prstGeom prst="roundRect">
            <a:avLst>
              <a:gd fmla="val 5089" name="adj"/>
            </a:avLst>
          </a:prstGeom>
          <a:solidFill>
            <a:srgbClr val="FBF9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2000250" y="3356669"/>
            <a:ext cx="8572500" cy="10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3B32"/>
                </a:solidFill>
                <a:latin typeface="Lato"/>
                <a:ea typeface="Lato"/>
                <a:cs typeface="Lato"/>
                <a:sym typeface="Lato"/>
              </a:rPr>
              <a:t>Pérdida de Búsquedas Orgánicas</a:t>
            </a: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 Al no contar con un sitio web oficial, el negocio queda invisible frente a potenciales clientes que utilizan motores de búsqueda (como Google) para encontrar florerías locales.</a:t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1333500" y="3118544"/>
            <a:ext cx="47625" cy="1497210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1333500" y="4853880"/>
            <a:ext cx="9525000" cy="1497210"/>
          </a:xfrm>
          <a:prstGeom prst="roundRect">
            <a:avLst>
              <a:gd fmla="val 5089" name="adj"/>
            </a:avLst>
          </a:prstGeom>
          <a:solidFill>
            <a:srgbClr val="FBF9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2000250" y="5092005"/>
            <a:ext cx="8572500" cy="10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3B32"/>
                </a:solidFill>
                <a:latin typeface="Lato"/>
                <a:ea typeface="Lato"/>
                <a:cs typeface="Lato"/>
                <a:sym typeface="Lato"/>
              </a:rPr>
              <a:t>Percepción de Marca</a:t>
            </a: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 La ausencia de una plataforma digital propia y estructurada disminuye la percepción de profesionalismo y dificulta la fidelización y confianza del cliente a largo plazo.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1333500" y="4853880"/>
            <a:ext cx="47625" cy="1497210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1645146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250" y="33804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9250" y="5115817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71500" y="26878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El Desafío: Visibilidad y Alcance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71500" y="983158"/>
            <a:ext cx="11049000" cy="19050"/>
          </a:xfrm>
          <a:prstGeom prst="rect">
            <a:avLst/>
          </a:prstGeom>
          <a:solidFill>
            <a:srgbClr val="D4C3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812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571500" y="208121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8A9A5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Identidad Digital Propia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71500" y="27765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Proponemos el diseño y desarrollo de un </a:t>
            </a:r>
            <a:r>
              <a:rPr b="1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sitio web centralizado y profesional</a:t>
            </a: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571500" y="35290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Este nuevo espacio no solo funcionará como un catálogo interactivo de alta calidad para nuestros productos, sino que también permitirá la gestión ágil de pedidos directos.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571500" y="45862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Al eliminar intermediarios, logramos brindar una experiencia de usuario mucho más cercana, segura y confiable para nuestra clientela.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La Solución Propuesta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D4C3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amwork develop social media content vector illustration, cartoon flat developer designer people working on creative webpage development background (proporcionada por Getty Images)" id="127" name="Google Shape;12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8700" y="1749000"/>
            <a:ext cx="5046410" cy="4264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57387"/>
            <a:ext cx="523875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443162"/>
            <a:ext cx="4267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1057275" y="3014662"/>
            <a:ext cx="44805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Público Actual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1057275" y="3557587"/>
            <a:ext cx="4267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Tradicionalmente, nuestro alcance ha estado enfocado en un segmento masculino que busca regalos rápidos, captados principalmente a través de la inmediatez de las redes sociales. Es un cliente fiel, pero con alcance limitado por el algoritmo.</a:t>
            </a:r>
            <a:endParaRPr/>
          </a:p>
        </p:txBody>
      </p:sp>
      <p:pic>
        <p:nvPicPr>
          <p:cNvPr descr="image.png" id="137" name="Google Shape;13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7525" y="2443162"/>
            <a:ext cx="4267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6867525" y="3014662"/>
            <a:ext cx="44805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Nuevo Alcance Web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867525" y="3557587"/>
            <a:ext cx="4267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Con la implementación del sitio web, apuntamos a captar un rango etario más amplio y diverso. Queremos atraer a usuarios que buscan en Google, valoran la formalidad comercial y prefieren un sitio web establecido para realizar compras seguras y programadas.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Expansión de Nuestro Mercado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D4C3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9"/>
          <p:cNvGrpSpPr/>
          <p:nvPr/>
        </p:nvGrpSpPr>
        <p:grpSpPr>
          <a:xfrm>
            <a:off x="595238" y="2000250"/>
            <a:ext cx="2571900" cy="2857500"/>
            <a:chOff x="571500" y="1524000"/>
            <a:chExt cx="2571900" cy="2857500"/>
          </a:xfrm>
        </p:grpSpPr>
        <p:sp>
          <p:nvSpPr>
            <p:cNvPr id="147" name="Google Shape;147;p19"/>
            <p:cNvSpPr/>
            <p:nvPr/>
          </p:nvSpPr>
          <p:spPr>
            <a:xfrm>
              <a:off x="571500" y="1524000"/>
              <a:ext cx="2571900" cy="2857500"/>
            </a:xfrm>
            <a:prstGeom prst="roundRect">
              <a:avLst>
                <a:gd fmla="val 5555" name="adj"/>
              </a:avLst>
            </a:prstGeom>
            <a:solidFill>
              <a:srgbClr val="FBF9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 txBox="1"/>
            <p:nvPr/>
          </p:nvSpPr>
          <p:spPr>
            <a:xfrm>
              <a:off x="571500" y="15240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D4C3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4000">
                <a:solidFill>
                  <a:srgbClr val="D4C3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3B32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Código</a:t>
              </a:r>
              <a:endParaRPr b="0" sz="1800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C665F"/>
                  </a:solidFill>
                  <a:latin typeface="Lato"/>
                  <a:ea typeface="Lato"/>
                  <a:cs typeface="Lato"/>
                  <a:sym typeface="Lato"/>
                </a:rPr>
                <a:t>VS Code y Antigravity como gestores base para una escritura limpia y eficiente.</a:t>
              </a:r>
              <a:endParaRPr sz="1300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9" name="Google Shape;149;p19"/>
          <p:cNvGrpSpPr/>
          <p:nvPr/>
        </p:nvGrpSpPr>
        <p:grpSpPr>
          <a:xfrm>
            <a:off x="3405113" y="2000250"/>
            <a:ext cx="2571900" cy="2857500"/>
            <a:chOff x="3381375" y="1524000"/>
            <a:chExt cx="2571900" cy="2857500"/>
          </a:xfrm>
        </p:grpSpPr>
        <p:sp>
          <p:nvSpPr>
            <p:cNvPr id="150" name="Google Shape;150;p19"/>
            <p:cNvSpPr/>
            <p:nvPr/>
          </p:nvSpPr>
          <p:spPr>
            <a:xfrm>
              <a:off x="3381375" y="1524000"/>
              <a:ext cx="2571900" cy="2857500"/>
            </a:xfrm>
            <a:prstGeom prst="roundRect">
              <a:avLst>
                <a:gd fmla="val 5555" name="adj"/>
              </a:avLst>
            </a:prstGeom>
            <a:solidFill>
              <a:srgbClr val="FBF9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 txBox="1"/>
            <p:nvPr/>
          </p:nvSpPr>
          <p:spPr>
            <a:xfrm>
              <a:off x="3381375" y="15240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D4C3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4000">
                <a:solidFill>
                  <a:srgbClr val="D4C3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3B32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IAs</a:t>
              </a:r>
              <a:endParaRPr b="0" sz="1800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C665F"/>
                  </a:solidFill>
                  <a:latin typeface="Lato"/>
                  <a:ea typeface="Lato"/>
                  <a:cs typeface="Lato"/>
                  <a:sym typeface="Lato"/>
                </a:rPr>
                <a:t>Implementación de Gemini y ChatGPT para optimizar procesos y asistencia inteligente.</a:t>
              </a:r>
              <a:endParaRPr sz="1300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2" name="Google Shape;152;p19"/>
          <p:cNvGrpSpPr/>
          <p:nvPr/>
        </p:nvGrpSpPr>
        <p:grpSpPr>
          <a:xfrm>
            <a:off x="6214988" y="2000250"/>
            <a:ext cx="2571900" cy="2857500"/>
            <a:chOff x="6191250" y="1524000"/>
            <a:chExt cx="2571900" cy="2857500"/>
          </a:xfrm>
        </p:grpSpPr>
        <p:sp>
          <p:nvSpPr>
            <p:cNvPr id="153" name="Google Shape;153;p19"/>
            <p:cNvSpPr/>
            <p:nvPr/>
          </p:nvSpPr>
          <p:spPr>
            <a:xfrm>
              <a:off x="6191250" y="1524000"/>
              <a:ext cx="2571900" cy="2857500"/>
            </a:xfrm>
            <a:prstGeom prst="roundRect">
              <a:avLst>
                <a:gd fmla="val 5555" name="adj"/>
              </a:avLst>
            </a:prstGeom>
            <a:solidFill>
              <a:srgbClr val="FBF9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6191250" y="15240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D4C3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4000">
                <a:solidFill>
                  <a:srgbClr val="D4C3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3B32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Git &amp; GitHub</a:t>
              </a:r>
              <a:endParaRPr b="0" sz="1800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C665F"/>
                  </a:solidFill>
                  <a:latin typeface="Lato"/>
                  <a:ea typeface="Lato"/>
                  <a:cs typeface="Lato"/>
                  <a:sym typeface="Lato"/>
                </a:rPr>
                <a:t>Control de versiones preciso para un trabajo colaborativo organizado y respaldado.</a:t>
              </a:r>
              <a:endParaRPr sz="1300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5" name="Google Shape;155;p19"/>
          <p:cNvGrpSpPr/>
          <p:nvPr/>
        </p:nvGrpSpPr>
        <p:grpSpPr>
          <a:xfrm>
            <a:off x="9024863" y="2000250"/>
            <a:ext cx="2571900" cy="2857500"/>
            <a:chOff x="9001125" y="1524000"/>
            <a:chExt cx="2571900" cy="2857500"/>
          </a:xfrm>
        </p:grpSpPr>
        <p:sp>
          <p:nvSpPr>
            <p:cNvPr id="156" name="Google Shape;156;p19"/>
            <p:cNvSpPr/>
            <p:nvPr/>
          </p:nvSpPr>
          <p:spPr>
            <a:xfrm>
              <a:off x="9001125" y="1524000"/>
              <a:ext cx="2571900" cy="2857500"/>
            </a:xfrm>
            <a:prstGeom prst="roundRect">
              <a:avLst>
                <a:gd fmla="val 5555" name="adj"/>
              </a:avLst>
            </a:prstGeom>
            <a:solidFill>
              <a:srgbClr val="FBF9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9001125" y="15240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D4C3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chat</a:t>
              </a:r>
              <a:endParaRPr sz="4000">
                <a:solidFill>
                  <a:srgbClr val="D4C3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3B32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Comunicaciones</a:t>
              </a:r>
              <a:endParaRPr b="0" sz="1800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5C665F"/>
                  </a:solidFill>
                  <a:latin typeface="Lato"/>
                  <a:ea typeface="Lato"/>
                  <a:cs typeface="Lato"/>
                  <a:sym typeface="Lato"/>
                </a:rPr>
                <a:t>API de WhatsApp para atención personalizada y cierre de ventas en tiempo real.</a:t>
              </a:r>
              <a:endParaRPr sz="1300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58" name="Google Shape;158;p19"/>
          <p:cNvSpPr txBox="1"/>
          <p:nvPr/>
        </p:nvSpPr>
        <p:spPr>
          <a:xfrm>
            <a:off x="571500" y="571500"/>
            <a:ext cx="1160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Stack Tecnológico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1500" y="1285875"/>
            <a:ext cx="11049000" cy="19200"/>
          </a:xfrm>
          <a:prstGeom prst="rect">
            <a:avLst/>
          </a:prstGeom>
          <a:solidFill>
            <a:srgbClr val="D4C3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5524500" y="2560290"/>
            <a:ext cx="1143000" cy="2857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655570" y="2874615"/>
            <a:ext cx="688086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Navegando el Sitio Web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3324225" y="4074765"/>
            <a:ext cx="55437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Demostración en vivo de la plataforma Shen Arte Floral.</a:t>
            </a:r>
            <a:endParaRPr b="0" i="0" sz="1800" u="none" cap="none" strike="noStrike">
              <a:solidFill>
                <a:srgbClr val="5C665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C665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C665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Shen Arte Floral - Florería en Puerto Montt</a:t>
            </a:r>
            <a:endParaRPr sz="1800">
              <a:solidFill>
                <a:srgbClr val="5C665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/>
        </p:nvSpPr>
        <p:spPr>
          <a:xfrm>
            <a:off x="571500" y="3000375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8A9A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100%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571500" y="4619625"/>
            <a:ext cx="5238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3B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Independencia Digital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6381750" y="2462212"/>
            <a:ext cx="55006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8A9A5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 Perfil a E-commerce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381750" y="30908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Lo que nos hace únicos es la transición de ser "una cuenta más" en una red social, a convertirnos en una </a:t>
            </a:r>
            <a:r>
              <a:rPr b="1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marca comercial sólidamente establecida</a:t>
            </a: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 en la región.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6381750" y="4148137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65F"/>
                </a:solidFill>
                <a:latin typeface="Lato"/>
                <a:ea typeface="Lato"/>
                <a:cs typeface="Lato"/>
                <a:sym typeface="Lato"/>
              </a:rPr>
              <a:t>Este proyecto otorga autonomía total sobre nuestro catálogo, la experiencia visual de nuestros clientes, y elimina la fricción y comisiones de las aplicaciones de intermediarios, asegurando un trato directo y cálido.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Nuestra Diferenciación</a:t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D4C3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2825" y="4099470"/>
            <a:ext cx="508635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295275" y="1777305"/>
            <a:ext cx="116014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2E3B3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¡Gracias por su atención!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571500" y="29107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8A9A5B"/>
                </a:solidFill>
                <a:latin typeface="Lato"/>
                <a:ea typeface="Lato"/>
                <a:cs typeface="Lato"/>
                <a:sym typeface="Lato"/>
              </a:rPr>
              <a:t>"El éxito es la suma de pequeños esfuerzos repetidos día tras día."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